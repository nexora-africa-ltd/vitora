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● Nexora Africa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14B8A6"/>
                </a:solidFill>
                <a:latin typeface="Calibri"/>
              </a:defRPr>
            </a:pPr>
            <a:r>
              <a:t>Vitora HMIS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56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The offline-first hospital management system built for Kenya's healthcare infrastructure.</a:t>
            </a:r>
            <a:br/>
            <a:r>
              <a:t>SHA-compliant. AI-powered. Always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📍 Nairobi, Kenya     🌐 vitora.digital     📅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Kenya's healthcare facilities</a:t>
            </a:r>
            <a:br/>
            <a:r>
              <a:t>deserve better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Existing systems weren't built for Kenya. They fail when the internet drops, can't handle SHA claims, and ignore local reporting requirements.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Internet goes down, work stops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2743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100% offline operation, auto-sync on reconnect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SHA claims take hours to reconcile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383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383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All 15 SHA/DHA APIs integrated — automated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Patients wait too long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023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KETA triage + real-time queue cuts wait times drastically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MOH reports are manual &amp; error-prone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663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Automated KHIS/DHIS2 reporting — zero manual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Paper records aren't secure or searchable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53035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03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AES encryption, audit trail, Kenya DPA 2019 compliant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Clinical decisions lack guideline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9436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4B8A6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943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TibaBot AI: KSTG-aligned decision support + ICD-10 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FCE8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Digitize your clinic</a:t>
            </a:r>
            <a:br/>
            <a:r>
              <a:t>in days, not months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FCE8"/>
                </a:solidFill>
                <a:latin typeface="Calibri"/>
              </a:defRPr>
            </a:pPr>
            <a:r>
              <a:t>Vitora is a complete hospital management system purpose-built for Kenyan clinics and hospitals — from a single dispensary to county-wide health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560320" cy="164592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CCFCE8"/>
                </a:solidFill>
                <a:latin typeface="Calibri"/>
              </a:defRPr>
            </a:pPr>
            <a:r>
              <a:t>Offline Capable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200400"/>
            <a:ext cx="2560320" cy="164592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15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CCFCE8"/>
                </a:solidFill>
                <a:latin typeface="Calibri"/>
              </a:defRPr>
            </a:pPr>
            <a:r>
              <a:t>SHA APIs Integrated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200400"/>
            <a:ext cx="2560320" cy="164592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47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CCFCE8"/>
                </a:solidFill>
                <a:latin typeface="Calibri"/>
              </a:defRPr>
            </a:pPr>
            <a:r>
              <a:t>Counties 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3200400"/>
            <a:ext cx="2560320" cy="164592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&lt; 2 wk</a:t>
            </a:r>
          </a:p>
          <a:p>
            <a:pPr algn="ctr">
              <a:spcBef>
                <a:spcPts val="400"/>
              </a:spcBef>
              <a:defRPr sz="1100" b="0">
                <a:solidFill>
                  <a:srgbClr val="CCFCE8"/>
                </a:solidFill>
                <a:latin typeface="Calibri"/>
              </a:defRPr>
            </a:pPr>
            <a:r>
              <a:t>Go-Live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Everything a facility needs,</a:t>
            </a:r>
            <a:br/>
            <a:r>
              <a:t>one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20+ integrated clinical &amp; administrative modules — no more juggling separate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🏥 Patient Flow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Registration, KETA triage, queue,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5603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🩺 Clinical Records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SOAP notes, vitals, ICD-10/11, treatment plans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5603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💰 Billing &amp; Revenue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Auto-invoicing, M-Pesa, SHA claims, eTIMS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56032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💊 Pharmacy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Prescriptions, dispensing, drug interactions,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🔬 Laboratory (LIS)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Orders, specimens, QC, HL7, LOINC mapping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02336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🏨 Inpatient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Ward dashboards, bed mgmt, admissions, transfers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02336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🤰 MCH Module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ANC, delivery, partograph, PNC, growth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02336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💉 Immunizations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KEPI schedule, campaigns, AEFI, cold chain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📡 Surveillance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IDSR reporting, IHR notifications, outbreak 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54864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🏗️ Inventory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Suppliers, POs, goods receipt, stock counts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54864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🖼️ Imaging / DICOM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Procedure catalog, radiology orders, viewer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5486400"/>
            <a:ext cx="274320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📊 Analytics &amp; BI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Real-time dashboards, MOH reports, Metabase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Meet TibaBot — Clinical</a:t>
            </a:r>
            <a:br/>
            <a:r>
              <a:t>Intelligence for Kenya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AI-powered clinical decision support built on Kenya's own treatment guidelines. Safer care, faster workflows, better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ICD-10 Auto-Coding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Drug Interaction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59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Care Plan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Lab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Symptom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3154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Discharge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ICU Risk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Clerking Autocomplete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SOAP Note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Investigation Suggestions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Clinical Chat (Streaming)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977639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● English + Swahili + Sheng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2743200"/>
            <a:ext cx="4572000" cy="3200400"/>
          </a:xfrm>
          <a:prstGeom prst="roundRect">
            <a:avLst/>
          </a:prstGeom>
          <a:solidFill>
            <a:srgbClr val="132A27"/>
          </a:solidFill>
          <a:ln>
            <a:solidFill>
              <a:srgbClr val="1A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Safety-First Design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E2E8F0"/>
                </a:solidFill>
                <a:latin typeface="Calibri"/>
              </a:defRPr>
            </a:pPr>
            <a:r>
              <a:t>✓ Clinician always in control — suggestions, never autonomous decisions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E2E8F0"/>
                </a:solidFill>
                <a:latin typeface="Calibri"/>
              </a:defRPr>
            </a:pPr>
            <a:r>
              <a:t>✓ KSTG-aligned — built on Kenya Standard Treatment Guidelines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E2E8F0"/>
                </a:solidFill>
                <a:latin typeface="Calibri"/>
              </a:defRPr>
            </a:pPr>
            <a:r>
              <a:t>✓ Data stays private — encrypted, processed locally, no third-party sharing</a:t>
            </a:r>
          </a:p>
          <a:p>
            <a:pPr algn="l">
              <a:spcBef>
                <a:spcPts val="1000"/>
              </a:spcBef>
              <a:defRPr sz="1000" b="0">
                <a:solidFill>
                  <a:srgbClr val="E2E8F0"/>
                </a:solidFill>
                <a:latin typeface="Calibri"/>
              </a:defRPr>
            </a:pPr>
            <a:r>
              <a:t>✓ Kenya DPA 2019 compliant — full audit trail on all AI 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CD3DB"/>
                </a:solidFill>
                <a:latin typeface="Calibri"/>
              </a:defRPr>
            </a:pPr>
            <a:r>
              <a:t>OFFLINE-FIRST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Built for unreliable</a:t>
            </a:r>
            <a:br/>
            <a:r>
              <a:t>internet —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CD3DB"/>
                </a:solidFill>
                <a:latin typeface="Calibri"/>
              </a:defRPr>
            </a:pPr>
            <a:r>
              <a:t>Not a bolt-on. Vitora's offline-first architecture means your facility never stops, regardless of connectivity.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3566160" cy="1828800"/>
          </a:xfrm>
          <a:prstGeom prst="roundRect">
            <a:avLst/>
          </a:prstGeom>
          <a:solidFill>
            <a:srgbClr val="5A1430"/>
          </a:solidFill>
          <a:ln>
            <a:solidFill>
              <a:srgbClr val="8B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📱 Local-First Storage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FCD3DB"/>
                </a:solidFill>
                <a:latin typeface="Calibri"/>
              </a:defRPr>
            </a:pPr>
            <a:r>
              <a:t>All data stored locally in SQLite. Reads are instant — no network dependency.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926080"/>
            <a:ext cx="3566160" cy="1828800"/>
          </a:xfrm>
          <a:prstGeom prst="roundRect">
            <a:avLst/>
          </a:prstGeom>
          <a:solidFill>
            <a:srgbClr val="5A1430"/>
          </a:solidFill>
          <a:ln>
            <a:solidFill>
              <a:srgbClr val="8B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🔄 Bi-Directional Sync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FCD3DB"/>
                </a:solidFill>
                <a:latin typeface="Calibri"/>
              </a:defRPr>
            </a:pPr>
            <a:r>
              <a:t>PowerSync Cloud handles automatic sync when connectivity returns. Conflict resolution built-in.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926080"/>
            <a:ext cx="3566160" cy="1828800"/>
          </a:xfrm>
          <a:prstGeom prst="roundRect">
            <a:avLst/>
          </a:prstGeom>
          <a:solidFill>
            <a:srgbClr val="5A1430"/>
          </a:solidFill>
          <a:ln>
            <a:solidFill>
              <a:srgbClr val="8B2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524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Real-Time When Online</a:t>
            </a:r>
          </a:p>
          <a:p>
            <a:pPr algn="l">
              <a:spcBef>
                <a:spcPts val="800"/>
              </a:spcBef>
              <a:defRPr sz="1000" b="0">
                <a:solidFill>
                  <a:srgbClr val="FCD3DB"/>
                </a:solidFill>
                <a:latin typeface="Calibri"/>
              </a:defRPr>
            </a:pPr>
            <a:r>
              <a:t>WebSocket pushes instant updates — lab alerts, triage queue, dashboard stats.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43"/>
                </a:solidFill>
                <a:latin typeface="Calibri"/>
              </a:defRPr>
            </a:pPr>
            <a:r>
              <a:t>Web (SQLite/WASM)  ←→  PowerSync Cloud  ←→  PostgreSQL (Neon)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Plugs into Kenya's</a:t>
            </a:r>
            <a:br/>
            <a:r>
              <a:t>health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Native integrations with every system Kenyan facilities depend on — no middleware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🏛️  SHA / DHA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All 15 APIs — eligibility, claims, pre-auth, ILM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651760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📊  KHIS / DHIS2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MOH 705A, 705B, 711, 717 — auto-generated &amp; pushed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651760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💳  M-Pesa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STK Push, real-time verification, auto receipts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🔥  FHIR R4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Patient, Encounter, Observation, Condition, CarePlan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931920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🔬  HL7 v2 / Lab Equipment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ORM/ORU messaging, analyzer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931920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🧬  SNOMED CT &amp; LOINC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International clinical terminologies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79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🧾  KRA eTIMS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Electronic tax invoice submission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5212079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📱  SMS &amp; WhatsApp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Automated appointment reminders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212079"/>
            <a:ext cx="356616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defRPr sz="1200" b="1">
                <a:solidFill>
                  <a:srgbClr val="E2E8F0"/>
                </a:solidFill>
              </a:defRPr>
            </a:pPr>
            <a:r>
              <a:t>📈  Metabase BI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Embedded analytics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Patient data protection is</a:t>
            </a:r>
            <a:br/>
            <a:r>
              <a:t>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Six pillars of protection — designed for Kenya's regulatory landscape from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AES Encryption at Rest &amp; TLS in Transit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443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Fernet/AES-128 for PII fields, TLS 1.3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101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Role-Based 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02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12+ roles, sensitive records need explicit 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68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61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Every access logged — user, IP, timestamp, purpose. 7yr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62686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268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MFA Enforcement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194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TOTP-based MFA mandatory for admin/senior clinical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852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2852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Secure Cloud Hosting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Azure Container Apps, Neon PostgreSQL (EU), managed SSL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Data Minimization &amp; Consent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6236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Purpose limitation, consent tracking, data subject rights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Kenya DPA 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Compliant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SHA / DHA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474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All 15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206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FHIR R4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Supported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KHIS / DHIS2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Automated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WHY VITORA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Purpose-built for Kenya,</a:t>
            </a:r>
            <a:br/>
            <a:r>
              <a:t>not adapted from abroad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4B8A6"/>
                </a:solidFill>
                <a:latin typeface="Calibri"/>
              </a:defRPr>
            </a:pPr>
            <a:r>
              <a:t>Vitora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Generic HMIS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77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377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4A3B8"/>
                </a:solidFill>
                <a:latin typeface="Calibri"/>
              </a:defRPr>
            </a:pPr>
            <a:r>
              <a:t>Imported EHR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Works fully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834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101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15 SHA/DHA APIs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10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310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1-3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310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3101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856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Automated KHIS/DHIS2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856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785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856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7856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611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 clinical 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261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2611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261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2611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Add-on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7365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M-Pesa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7365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7365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Kenya DPA 2019 compliance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5212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HIPAA-only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87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KETA triage + 47-county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6875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5687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163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Implementation 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6163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B8A6"/>
                </a:solidFill>
                <a:latin typeface="Calibri"/>
              </a:defRPr>
            </a:pPr>
            <a:r>
              <a:t>&lt; 2 wk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61630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1-3 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6163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0" y="61630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3-6 mo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From single clinics to</a:t>
            </a:r>
            <a:br/>
            <a:r>
              <a:t>county health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Four segments, one platform — each with a tailored plan and implementation path.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7432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3600"/>
            </a:pPr>
            <a:r>
              <a:t>🏥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E2E8F0"/>
                </a:solidFill>
                <a:latin typeface="Calibri"/>
              </a:defRPr>
            </a:pPr>
            <a:r>
              <a:t>Outpatient Clinics</a:t>
            </a:r>
          </a:p>
          <a:p>
            <a:pPr algn="ctr">
              <a:spcBef>
                <a:spcPts val="6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Dispensaries, health centres, GP practices</a:t>
            </a:r>
          </a:p>
          <a:p>
            <a:pPr algn="ctr">
              <a:spcBef>
                <a:spcPts val="1200"/>
              </a:spcBef>
              <a:defRPr sz="900" b="1">
                <a:solidFill>
                  <a:srgbClr val="14B8A6"/>
                </a:solidFill>
                <a:latin typeface="Calibri"/>
              </a:defRPr>
            </a:pPr>
            <a:r>
              <a:t>~13,000 facilities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743200"/>
            <a:ext cx="27432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3600"/>
            </a:pPr>
            <a:r>
              <a:t>🏨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E2E8F0"/>
                </a:solidFill>
                <a:latin typeface="Calibri"/>
              </a:defRPr>
            </a:pPr>
            <a:r>
              <a:t>Hospitals</a:t>
            </a:r>
          </a:p>
          <a:p>
            <a:pPr algn="ctr">
              <a:spcBef>
                <a:spcPts val="6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Level 3-5 multi-department facilities</a:t>
            </a:r>
          </a:p>
          <a:p>
            <a:pPr algn="ctr">
              <a:spcBef>
                <a:spcPts val="1200"/>
              </a:spcBef>
              <a:defRPr sz="900" b="1">
                <a:solidFill>
                  <a:srgbClr val="14B8A6"/>
                </a:solidFill>
                <a:latin typeface="Calibri"/>
              </a:defRPr>
            </a:pPr>
            <a:r>
              <a:t>~800 hospitals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743200"/>
            <a:ext cx="27432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3600"/>
            </a:pPr>
            <a:r>
              <a:t>🦷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E2E8F0"/>
                </a:solidFill>
                <a:latin typeface="Calibri"/>
              </a:defRPr>
            </a:pPr>
            <a:r>
              <a:t>Specialized Practices</a:t>
            </a:r>
          </a:p>
          <a:p>
            <a:pPr algn="ctr">
              <a:spcBef>
                <a:spcPts val="6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Dental, optical, physiotherapy, allied health</a:t>
            </a:r>
          </a:p>
          <a:p>
            <a:pPr algn="ctr">
              <a:spcBef>
                <a:spcPts val="1200"/>
              </a:spcBef>
              <a:defRPr sz="900" b="1">
                <a:solidFill>
                  <a:srgbClr val="14B8A6"/>
                </a:solidFill>
                <a:latin typeface="Calibri"/>
              </a:defRPr>
            </a:pPr>
            <a:r>
              <a:t>Growing private sector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743200"/>
            <a:ext cx="2743200" cy="3200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3600"/>
            </a:pPr>
            <a:r>
              <a:t>🌍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E2E8F0"/>
                </a:solidFill>
                <a:latin typeface="Calibri"/>
              </a:defRPr>
            </a:pPr>
            <a:r>
              <a:t>Enterprise</a:t>
            </a:r>
          </a:p>
          <a:p>
            <a:pPr algn="ctr">
              <a:spcBef>
                <a:spcPts val="6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Hospital groups, county systems, NGO networks</a:t>
            </a:r>
          </a:p>
          <a:p>
            <a:pPr algn="ctr">
              <a:spcBef>
                <a:spcPts val="1200"/>
              </a:spcBef>
              <a:defRPr sz="900" b="1">
                <a:solidFill>
                  <a:srgbClr val="14B8A6"/>
                </a:solidFill>
                <a:latin typeface="Calibri"/>
              </a:defRPr>
            </a:pPr>
            <a:r>
              <a:t>Custom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Transparent, predictable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Start with a free 30-day pilot. Annual billing saves 2 months.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56616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CLINIC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KES 8,999/mo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Outpatient clinics · Up to 10 staff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Patient registration &amp; records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Triage &amp; queue management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Billing &amp; M-Pesa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SHA eligibility &amp; claims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MOH report generation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Basic analytics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Email &amp; chat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66160" cy="4206240"/>
          </a:xfrm>
          <a:prstGeom prst="roundRect">
            <a:avLst/>
          </a:prstGeom>
          <a:solidFill>
            <a:srgbClr val="132A27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HOSPITAL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KES 49,999/mo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Level 3-5 facilities · Up to 50 staff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Everything in Clinic, plus: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Inpatient &amp; bed management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Laboratory Information System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Pharmacy &amp; inventory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MCH, immunizations, imaging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Staff scheduling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Full implementation included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Priority support &amp;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286000"/>
            <a:ext cx="356616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>
              <a:defRPr sz="900" b="1">
                <a:solidFill>
                  <a:srgbClr val="94A3B8"/>
                </a:solidFill>
              </a:defRPr>
            </a:pPr>
            <a:r>
              <a:t>ENTERPRISE</a:t>
            </a:r>
          </a:p>
          <a:p>
            <a:pPr algn="ctr">
              <a:spcBef>
                <a:spcPts val="6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  <a:p>
            <a:pPr algn="ctr">
              <a:spcBef>
                <a:spcPts val="400"/>
              </a:spcBef>
              <a:defRPr sz="900" b="0">
                <a:solidFill>
                  <a:srgbClr val="94A3B8"/>
                </a:solidFill>
                <a:latin typeface="Calibri"/>
              </a:defRPr>
            </a:pPr>
            <a:r>
              <a:t>Hospital groups &amp; county systems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Everything in Hospital, plus: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Multi-facility dashboard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Cross-facility analytics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Custom integrations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Dedicated account manager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On-site training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Custom SLA &amp; data residency</a:t>
            </a:r>
          </a:p>
          <a:p>
            <a:pPr algn="l">
              <a:spcBef>
                <a:spcPts val="400"/>
              </a:spcBef>
              <a:defRPr sz="900" b="0">
                <a:solidFill>
                  <a:srgbClr val="E2E8F0"/>
                </a:solidFill>
                <a:latin typeface="Calibri"/>
              </a:defRPr>
            </a:pPr>
            <a:r>
              <a:t>✓ API access for 3rd-party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CFCE8"/>
                </a:solidFill>
                <a:latin typeface="Calibri"/>
              </a:defRPr>
            </a:pPr>
            <a:r>
              <a:t>TRACTION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Enterprise-grade from</a:t>
            </a:r>
            <a:br/>
            <a:r>
              <a:t>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FCE8"/>
                </a:solidFill>
                <a:latin typeface="Calibri"/>
              </a:defRPr>
            </a:pPr>
            <a:r>
              <a:t>Built with rigorous engineering practices — not a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146304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8,400+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CCFCE8"/>
                </a:solidFill>
                <a:latin typeface="Calibri"/>
              </a:defRPr>
            </a:pPr>
            <a:r>
              <a:t>Automated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743200"/>
            <a:ext cx="2560320" cy="146304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339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CCFCE8"/>
                </a:solidFill>
                <a:latin typeface="Calibri"/>
              </a:defRPr>
            </a:pPr>
            <a:r>
              <a:t>Web App 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2560320" cy="146304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250+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CCFCE8"/>
                </a:solidFill>
                <a:latin typeface="Calibri"/>
              </a:defRPr>
            </a:pPr>
            <a:r>
              <a:t>Data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743200"/>
            <a:ext cx="2560320" cy="1463040"/>
          </a:xfrm>
          <a:prstGeom prst="roundRect">
            <a:avLst/>
          </a:prstGeom>
          <a:solidFill>
            <a:srgbClr val="0A7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104K</a:t>
            </a:r>
          </a:p>
          <a:p>
            <a:pPr algn="ctr">
              <a:spcBef>
                <a:spcPts val="400"/>
              </a:spcBef>
              <a:defRPr sz="1000" b="0">
                <a:solidFill>
                  <a:srgbClr val="CCFCE8"/>
                </a:solidFill>
                <a:latin typeface="Calibri"/>
              </a:defRPr>
            </a:pPr>
            <a:r>
              <a:t>ICD-10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FCE8"/>
                </a:solidFill>
                <a:latin typeface="Calibri"/>
              </a:defRPr>
            </a:pPr>
            <a:r>
              <a:t>Django Apps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FCE8"/>
                </a:solidFill>
                <a:latin typeface="Calibri"/>
              </a:defRPr>
            </a:pPr>
            <a:r>
              <a:t>UI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FCE8"/>
                </a:solidFill>
                <a:latin typeface="Calibri"/>
              </a:defRPr>
            </a:pPr>
            <a:r>
              <a:t>Mobile Screens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754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FCE8"/>
                </a:solidFill>
                <a:latin typeface="Calibri"/>
              </a:defRPr>
            </a:pPr>
            <a:r>
              <a:t>CI/CD Pipelines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From foundation to</a:t>
            </a:r>
            <a:br/>
            <a:r>
              <a:t>national scale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46888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Jan–Mar 2026</a:t>
            </a:r>
            <a:br/>
            <a:r>
              <a:t>Desktop app, API, security, offline sync</a:t>
            </a:r>
          </a:p>
        </p:txBody>
      </p:sp>
      <p:sp>
        <p:nvSpPr>
          <p:cNvPr id="9" name="Oval 8"/>
          <p:cNvSpPr/>
          <p:nvPr/>
        </p:nvSpPr>
        <p:spPr>
          <a:xfrm>
            <a:off x="3703319" y="2468880"/>
            <a:ext cx="182880" cy="1828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Clinical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Apr–Sep 2026</a:t>
            </a:r>
            <a:br/>
            <a:r>
              <a:t>SHA integration, mobile, web, billing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468880"/>
            <a:ext cx="182880" cy="18288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Full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Oct 2026–Mar 2027</a:t>
            </a:r>
            <a:br/>
            <a:r>
              <a:t>MCH, imaging, surveillance, analytics</a:t>
            </a:r>
          </a:p>
        </p:txBody>
      </p:sp>
      <p:sp>
        <p:nvSpPr>
          <p:cNvPr id="17" name="Oval 16"/>
          <p:cNvSpPr/>
          <p:nvPr/>
        </p:nvSpPr>
        <p:spPr>
          <a:xfrm>
            <a:off x="8366759" y="2468880"/>
            <a:ext cx="182880" cy="18288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19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Pilot &amp;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Apr–Sep 2027</a:t>
            </a:r>
            <a:br/>
            <a:r>
              <a:t>15+ sites, FHIR cert, private insurance</a:t>
            </a:r>
          </a:p>
        </p:txBody>
      </p:sp>
      <p:sp>
        <p:nvSpPr>
          <p:cNvPr id="21" name="Oval 20"/>
          <p:cNvSpPr/>
          <p:nvPr/>
        </p:nvSpPr>
        <p:spPr>
          <a:xfrm>
            <a:off x="10698480" y="2468880"/>
            <a:ext cx="182880" cy="18288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0175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3832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Oct–Dec 2027</a:t>
            </a:r>
            <a:br/>
            <a:r>
              <a:t>On-device ML, multi-language, Apache 2.0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 3 Success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Calibri"/>
              </a:defRPr>
            </a:pPr>
            <a:r>
              <a:t>7+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Operational Sites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Offline Uptime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Calibri"/>
              </a:defRPr>
            </a:pPr>
            <a:r>
              <a:t>&lt;5%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Sync Conflicts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B8A6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Calibri"/>
              </a:defRPr>
            </a:pPr>
            <a:r>
              <a:t>SHA Claim 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● VITORA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Nairobi-based.</a:t>
            </a:r>
            <a:br/>
            <a:r>
              <a:t>Kenya-obsessed.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 lean, full-stack team with deep Kenya healthcare domain expertise.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Core Team — 8 FTE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Engineering Lead — Architecture &amp; technical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Product Manager — Clinical workflows &amp;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2× Backend Engineers — Django, integrations,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2× Frontend Engineers — Next.js, React Native,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2× QA Engineers — 8,400+ tests, CI/CD, quality 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Calibri"/>
              </a:defRPr>
            </a:pPr>
            <a:r>
              <a:t>Extended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DevOps — Azure, CI/CD,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Security Specialist — Compliance, pen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UX Designer — Clinical workflow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3-5 Clinical Advisors — Kenyan clinicians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• Integration Partners — SHA, KHIS/DHIS2 liaisons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5303520"/>
            <a:ext cx="4754880" cy="1097280"/>
          </a:xfrm>
          <a:prstGeom prst="roundRect">
            <a:avLst/>
          </a:prstGeom>
          <a:solidFill>
            <a:srgbClr val="132A27"/>
          </a:solidFill>
          <a:ln>
            <a:solidFill>
              <a:srgbClr val="1A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🇰🇪 Local Advantage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94A3B8"/>
                </a:solidFill>
                <a:latin typeface="Calibri"/>
              </a:defRPr>
            </a:pPr>
            <a:r>
              <a:t>Nairobi-based = same-timezone support, on-site implementation, deep understanding of Kenya's healthcare challenges.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B8A6"/>
                </a:solidFill>
                <a:latin typeface="Calibri"/>
              </a:defRPr>
            </a:pPr>
            <a:r>
              <a:t>● 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77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Built for Care</a:t>
            </a:r>
            <a:br/>
            <a:r>
              <a:t>Without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Start with a free 30-day pilot — real workflows, full functionality, guided implementation. No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572000"/>
            <a:ext cx="2286000" cy="5486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Request a Demo 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572000"/>
            <a:ext cx="2286000" cy="548640"/>
          </a:xfrm>
          <a:prstGeom prst="roundRect">
            <a:avLst/>
          </a:prstGeom>
          <a:solidFill>
            <a:srgbClr val="0F172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Contact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Calibri"/>
              </a:defRPr>
            </a:pPr>
            <a:r>
              <a:t>🌐 vitora.digital     📱 +254 717 550 482     📍 Nairobi, Kenya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6126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© 2026 Nexora Africa Ltd.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