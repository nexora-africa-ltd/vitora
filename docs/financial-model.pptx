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Vitora HMIS</a:t>
            </a:r>
            <a:br/>
            <a:r>
              <a:t>Financial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B8A6"/>
                </a:solidFill>
                <a:latin typeface="Calibri"/>
              </a:defRPr>
            </a:pPr>
            <a:r>
              <a:t>●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2E8F0"/>
                </a:solidFill>
                <a:latin typeface="Calibri"/>
              </a:defRPr>
            </a:pPr>
            <a:r>
              <a:t>5-year revenue projections, unit economics, and path to profitability for Kenya's offline-first hospital management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● VITORA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B8A6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KES 2.5B addressable market</a:t>
            </a:r>
            <a:br/>
            <a:r>
              <a:t>in Kenya alone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13,000+ clinics and 800+ hospitals, most still on paper or basic spreadsheets. SHA digitization mandates are accelerating adoption.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971800"/>
          <a:ext cx="109728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347472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Facilities in Kenya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Avg ARPU / mo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Annual Revenue per Customer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Segment TAM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Outpatient Clinics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~13,000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KES 11,500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KES 138,000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KES 1.79B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Hospitals (L3-L5)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~800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KES 62,000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KES 744,000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KES 595M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Enterprise / County Systems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~50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KES 120,000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KES 1,440,000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KES 72M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~13,850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KES 2.46B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892040"/>
            <a:ext cx="352044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/>
          </a:p>
          <a:p>
            <a:pPr algn="ctr">
              <a:spcBef>
                <a:spcPts val="600"/>
              </a:spcBef>
              <a:defRPr sz="900" b="1">
                <a:solidFill>
                  <a:srgbClr val="94A3B8"/>
                </a:solidFill>
                <a:latin typeface="Calibri"/>
              </a:defRPr>
            </a:pPr>
            <a:r>
              <a:t>Total Addressable Market</a:t>
            </a:r>
          </a:p>
          <a:p>
            <a:pPr algn="ctr">
              <a:spcBef>
                <a:spcPts val="400"/>
              </a:spcBef>
              <a:defRPr sz="2200" b="1">
                <a:solidFill>
                  <a:srgbClr val="14B8A6"/>
                </a:solidFill>
                <a:latin typeface="Calibri"/>
              </a:defRPr>
            </a:pPr>
            <a:r>
              <a:t>KES 2.46B</a:t>
            </a:r>
          </a:p>
          <a:p>
            <a:pPr algn="ctr">
              <a:spcBef>
                <a:spcPts val="200"/>
              </a:spcBef>
              <a:defRPr sz="900" b="0">
                <a:solidFill>
                  <a:srgbClr val="94A3B8"/>
                </a:solidFill>
                <a:latin typeface="Calibri"/>
              </a:defRPr>
            </a:pPr>
            <a:r>
              <a:t>$18.9M USD / year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4892040"/>
            <a:ext cx="352044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/>
          </a:p>
          <a:p>
            <a:pPr algn="ctr">
              <a:spcBef>
                <a:spcPts val="600"/>
              </a:spcBef>
              <a:defRPr sz="900" b="1">
                <a:solidFill>
                  <a:srgbClr val="94A3B8"/>
                </a:solidFill>
                <a:latin typeface="Calibri"/>
              </a:defRPr>
            </a:pPr>
            <a:r>
              <a:t>Serviceable Market (Year 5)</a:t>
            </a:r>
          </a:p>
          <a:p>
            <a:pPr algn="ctr">
              <a:spcBef>
                <a:spcPts val="400"/>
              </a:spcBef>
              <a:defRPr sz="2200" b="1">
                <a:solidFill>
                  <a:srgbClr val="14B8A6"/>
                </a:solidFill>
                <a:latin typeface="Calibri"/>
              </a:defRPr>
            </a:pPr>
            <a:r>
              <a:t>KES 850M</a:t>
            </a:r>
          </a:p>
          <a:p>
            <a:pPr algn="ctr">
              <a:spcBef>
                <a:spcPts val="200"/>
              </a:spcBef>
              <a:defRPr sz="900" b="0">
                <a:solidFill>
                  <a:srgbClr val="94A3B8"/>
                </a:solidFill>
                <a:latin typeface="Calibri"/>
              </a:defRPr>
            </a:pPr>
            <a:r>
              <a:t>$6.5M USD / year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892040"/>
            <a:ext cx="352044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/>
          </a:p>
          <a:p>
            <a:pPr algn="ctr">
              <a:spcBef>
                <a:spcPts val="600"/>
              </a:spcBef>
              <a:defRPr sz="900" b="1">
                <a:solidFill>
                  <a:srgbClr val="94A3B8"/>
                </a:solidFill>
                <a:latin typeface="Calibri"/>
              </a:defRPr>
            </a:pPr>
            <a:r>
              <a:t>Year 5 Target Share</a:t>
            </a:r>
          </a:p>
          <a:p>
            <a:pPr algn="ctr">
              <a:spcBef>
                <a:spcPts val="400"/>
              </a:spcBef>
              <a:defRPr sz="2200" b="1">
                <a:solidFill>
                  <a:srgbClr val="14B8A6"/>
                </a:solidFill>
                <a:latin typeface="Calibri"/>
              </a:defRPr>
            </a:pPr>
            <a:r>
              <a:t>7.8%</a:t>
            </a:r>
          </a:p>
          <a:p>
            <a:pPr algn="ctr">
              <a:spcBef>
                <a:spcPts val="200"/>
              </a:spcBef>
              <a:defRPr sz="900" b="0">
                <a:solidFill>
                  <a:srgbClr val="94A3B8"/>
                </a:solidFill>
                <a:latin typeface="Calibri"/>
              </a:defRPr>
            </a:pPr>
            <a:r>
              <a:t>of TAM (conservative)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ARPU includes base plan + weighted average add-on attach rates (TibaBot AI 35%, Offline Sync 45%, LIS 20%, SMS 25%).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● VITORA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B8A6"/>
                </a:solidFill>
                <a:latin typeface="Calibri"/>
              </a:defRPr>
            </a:pPr>
            <a:r>
              <a:t>REVENUE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SaaS recurring revenue</a:t>
            </a:r>
            <a:br/>
            <a:r>
              <a:t>+ implementation fees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Three subscription tiers with modular add-ons. Annual billing earns 2 months free (~17% discount, incentivizes commitment).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971800"/>
          <a:ext cx="1097280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47472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Base Price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Avg Add-ons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Blended ARPU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Clinic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KES 8,999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KES 2,500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KES 11,500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Hospital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KES 49,999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KES 12,000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KES 62,000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Enterprise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KES 80,000+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KES 40,000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KES 120,000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4544568"/>
          <a:ext cx="109728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47472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Add-On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Price / mo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Attach Rate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TibaBot AI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KES 5,000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Offline Sync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KES 3,000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Advanced LIS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KES 7,000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SMS &amp; WhatsApp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KES 2,500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● VITORA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B8A6"/>
                </a:solidFill>
                <a:latin typeface="Calibri"/>
              </a:defRPr>
            </a:pPr>
            <a:r>
              <a:t>CUSTOMER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715 active customers</a:t>
            </a:r>
            <a:br/>
            <a:r>
              <a:t>by Year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Conservative ramp: Year 1 focuses on pilot conversions and reference customers. Growth accelerates from Y2 as SHA mandates drive demand.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971800"/>
          <a:ext cx="10972800" cy="3822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347472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Y1 (2026)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Y2 (2027)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Y3 (2028)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Y4 (2029)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Y5 (2030)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New Clinics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180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220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New Hospitals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New Enterprise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Less: churn (18% Y1, 12% Y2, 10% Y3, 8% Y4-5)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Churned Customers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−3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−9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−19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−24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−29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Active Customers (Cumulative)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78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225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438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715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↳ Clinics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160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316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510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↳ Hospitals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95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148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↳ Enterprise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Market Penetration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0.1%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0.6%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1.6%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3.2%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5.2%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6976872"/>
            <a:ext cx="265176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4B8A6"/>
                </a:solidFill>
              </a:defRPr>
            </a:pPr>
            <a:r>
              <a:t>55%</a:t>
            </a:r>
          </a:p>
          <a:p>
            <a:pPr algn="ctr">
              <a:spcBef>
                <a:spcPts val="200"/>
              </a:spcBef>
              <a:defRPr sz="900" b="0">
                <a:solidFill>
                  <a:srgbClr val="94A3B8"/>
                </a:solidFill>
                <a:latin typeface="Calibri"/>
              </a:defRPr>
            </a:pPr>
            <a:r>
              <a:t>Pilot → Paid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6976872"/>
            <a:ext cx="265176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4B8A6"/>
                </a:solidFill>
              </a:defRPr>
            </a:pPr>
            <a:r>
              <a:t>92%</a:t>
            </a:r>
          </a:p>
          <a:p>
            <a:pPr algn="ctr">
              <a:spcBef>
                <a:spcPts val="200"/>
              </a:spcBef>
              <a:defRPr sz="900" b="0">
                <a:solidFill>
                  <a:srgbClr val="94A3B8"/>
                </a:solidFill>
                <a:latin typeface="Calibri"/>
              </a:defRPr>
            </a:pPr>
            <a:r>
              <a:t>Retention (Y3+)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6976872"/>
            <a:ext cx="265176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4B8A6"/>
                </a:solidFill>
              </a:defRPr>
            </a:pPr>
            <a:r>
              <a:t>112%</a:t>
            </a:r>
          </a:p>
          <a:p>
            <a:pPr algn="ctr">
              <a:spcBef>
                <a:spcPts val="200"/>
              </a:spcBef>
              <a:defRPr sz="900" b="0">
                <a:solidFill>
                  <a:srgbClr val="94A3B8"/>
                </a:solidFill>
                <a:latin typeface="Calibri"/>
              </a:defRPr>
            </a:pPr>
            <a:r>
              <a:t>Net Revenue Retention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6976872"/>
            <a:ext cx="265176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4B8A6"/>
                </a:solidFill>
              </a:defRPr>
            </a:pPr>
            <a:r>
              <a:t>3.5×</a:t>
            </a:r>
          </a:p>
          <a:p>
            <a:pPr algn="ctr">
              <a:spcBef>
                <a:spcPts val="200"/>
              </a:spcBef>
              <a:defRPr sz="900" b="0">
                <a:solidFill>
                  <a:srgbClr val="94A3B8"/>
                </a:solidFill>
                <a:latin typeface="Calibri"/>
              </a:defRPr>
            </a:pPr>
            <a:r>
              <a:t>YoY Customer Growth (Avg)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● VITORA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FCE8"/>
                </a:solidFill>
                <a:latin typeface="Calibri"/>
              </a:defRPr>
            </a:pPr>
            <a:r>
              <a:t>REVENUE PROJECTIONS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KES 192M ARR</a:t>
            </a:r>
            <a:br/>
            <a:r>
              <a:t>by Year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FCE8"/>
                </a:solidFill>
                <a:latin typeface="Calibri"/>
              </a:defRPr>
            </a:pPr>
            <a:r>
              <a:t>Recurring SaaS revenue with strong expansion dynamics. Hospital and enterprise segments drive outsized revenue contribution.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971800"/>
          <a:ext cx="1097280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347472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Revenue Stream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Y1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Y2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Y3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Y4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Y5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Clinic Subscriptions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0.8M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4.8M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15.4M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31.8M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52.9M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Hospital Subscriptions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1.1M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7.1M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25.3M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49.0M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81.8M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Enterprise Subscriptions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2.2M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8.6M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18.4M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31.1M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Add-On Revenue (blended)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0.3M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2.1M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7.5M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15.8M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26.2M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Total Annual Revenue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2.2M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16.2M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56.8M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115.0M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192.0M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Exit MRR (Dec)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360K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2.3M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6.8M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12.4M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19.3M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Exit ARR (Annualized)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4.3M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27.6M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81.6M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148.8M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231.6M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YoY Revenue Growth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+636%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+251%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+102%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+67%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Revenue recognized on accrual basis. Annual billing discount (~17%) applied to 60% of Y3+ customers. All figures in KES.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● VITORA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B8A6"/>
                </a:solidFill>
                <a:latin typeface="Calibri"/>
              </a:defRPr>
            </a:pPr>
            <a:r>
              <a:t>COST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Lean team, capital-efficient</a:t>
            </a:r>
            <a:br/>
            <a:r>
              <a:t>growth to profitability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Engineering-heavy team with Kenya-competitive compensation. Cloud costs scale with customers, not upfront.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971800"/>
          <a:ext cx="1097280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347472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Cost Category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Y1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Y2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Y3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Y4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Y5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👥 Team (Salaries + Benefits)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24.0M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39.6M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61.2M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82.8M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104.4M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☁️ Cloud Infrastructure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2.4M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4.2M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7.2M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10.8M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14.4M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📢 Sales &amp; Marketing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3.6M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7.2M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12.0M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16.8M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20.4M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🛠️ Support &amp; Implementation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1.8M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4.2M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8.4M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13.2M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18.0M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🏢 Office &amp; G&amp;A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1.8M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2.4M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3.6M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4.8M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6.0M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Total Operating Costs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33.6M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57.6M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92.4M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128.4M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163.2M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5586984"/>
          <a:ext cx="1097280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347472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Function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Y1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Y2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Y3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Y4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Y5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Engineering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Product &amp; Design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Sales &amp; Marketing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Support &amp; CS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G&amp;A / Ops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Total FTE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● VITORA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CD3DB"/>
                </a:solidFill>
                <a:latin typeface="Calibri"/>
              </a:defRPr>
            </a:pPr>
            <a:r>
              <a:t>PROFIT &amp;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Breakeven in Y4,</a:t>
            </a:r>
            <a:br/>
            <a:r>
              <a:t>KES 28.8M profit in Y5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CD3DB"/>
                </a:solidFill>
                <a:latin typeface="Calibri"/>
              </a:defRPr>
            </a:pPr>
            <a:r>
              <a:t>High gross margins (85%+ SaaS) compound as customer base grows. Operational leverage kicks in from Y3.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971800"/>
          <a:ext cx="10972800" cy="3822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347472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1A243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Y1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Y2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Y3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Y4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Y5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2.2M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16.2M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56.8M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115.0M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192.0M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COGS (Infra + Support)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(4.2M)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(8.4M)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(15.6M)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(24.0M)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(32.4M)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Gross Profit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(2.0M)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7.8M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41.2M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91.0M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159.6M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Gross Margin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neg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73%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79%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83%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Team Costs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(24.0M)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(39.6M)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(61.2M)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(82.8M)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(104.4M)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Sales &amp; Marketing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(3.6M)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(7.2M)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(12.0M)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(16.8M)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(20.4M)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G&amp;A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(1.8M)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(2.4M)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(3.6M)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(4.8M)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(6.0M)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EBITDA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(31.4M)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(41.4M)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(35.6M)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(13.4M)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28.8M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EBITDA Margin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neg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neg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-63%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-12%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Cumulative Cash Burn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(31.4M)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(72.8M)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(108.4M)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(121.8M)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(93.0M)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● VITORA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B8A6"/>
                </a:solidFill>
                <a:latin typeface="Calibri"/>
              </a:defRPr>
            </a:pPr>
            <a: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Best-in-class LTV:CAC —</a:t>
            </a:r>
            <a:br/>
            <a:r>
              <a:t>10× clinics, 18× hospitals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Low customer acquisition costs (Kenya-based sales team + product-led growth from free pilots) combined with strong retention drive exceptional payback.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971800"/>
            <a:ext cx="3520440" cy="1737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/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ARPU / month: KES 11,500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CAC (all-in): KES 85,000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Avg lifetime: ~8 years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LTV (discounted): KES 828K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LTV : CAC: 9.7×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2971800"/>
            <a:ext cx="3520440" cy="1737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/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ARPU / month: KES 62,000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CAC (all-in): KES 250,000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Avg lifetime: ~10 years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LTV (discounted): KES 4.46M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LTV : CAC: 17.9×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971800"/>
            <a:ext cx="3520440" cy="1737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/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ARPU / month: KES 120,000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CAC (all-in): KES 480,000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Avg lifetime: ~12 years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LTV (discounted): KES 10.4M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LTV : CAC: 21.6×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● VITORA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B8A6"/>
                </a:solidFill>
                <a:latin typeface="Calibri"/>
              </a:defRPr>
            </a:pPr>
            <a:r>
              <a:t>FUNDING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Raising KES 150M seed</a:t>
            </a:r>
            <a:br/>
            <a:r>
              <a:t>to reach breakeven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Peak cumulative cash burn of KES 122M occurs in Y4. A KES 150M ($1.15M) seed round provides runway through profitability with buffer.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971800"/>
            <a:ext cx="260604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4B8A6"/>
                </a:solidFill>
              </a:defRPr>
            </a:pPr>
            <a:r>
              <a:t>KES 150M</a:t>
            </a:r>
          </a:p>
          <a:p>
            <a:pPr algn="ctr">
              <a:spcBef>
                <a:spcPts val="400"/>
              </a:spcBef>
              <a:defRPr sz="900" b="1">
                <a:solidFill>
                  <a:srgbClr val="94A3B8"/>
                </a:solidFill>
                <a:latin typeface="Calibri"/>
              </a:defRPr>
            </a:pPr>
            <a:r>
              <a:t>Seed Round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971800"/>
            <a:ext cx="260604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4B8A6"/>
                </a:solidFill>
              </a:defRPr>
            </a:pPr>
            <a:r>
              <a:t>$1.15M</a:t>
            </a:r>
          </a:p>
          <a:p>
            <a:pPr algn="ctr">
              <a:spcBef>
                <a:spcPts val="400"/>
              </a:spcBef>
              <a:defRPr sz="900" b="1">
                <a:solidFill>
                  <a:srgbClr val="94A3B8"/>
                </a:solidFill>
                <a:latin typeface="Calibri"/>
              </a:defRPr>
            </a:pPr>
            <a:r>
              <a:t>USD Equivalent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2971800"/>
            <a:ext cx="260604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4B8A6"/>
                </a:solidFill>
              </a:defRPr>
            </a:pPr>
            <a:r>
              <a:t>4.3 yrs</a:t>
            </a:r>
          </a:p>
          <a:p>
            <a:pPr algn="ctr">
              <a:spcBef>
                <a:spcPts val="400"/>
              </a:spcBef>
              <a:defRPr sz="900" b="1">
                <a:solidFill>
                  <a:srgbClr val="94A3B8"/>
                </a:solidFill>
                <a:latin typeface="Calibri"/>
              </a:defRPr>
            </a:pPr>
            <a:r>
              <a:t>Runway to Profit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2971800"/>
            <a:ext cx="260604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4B8A6"/>
                </a:solidFill>
              </a:defRPr>
            </a:pPr>
            <a:r>
              <a:t>1.3×</a:t>
            </a:r>
          </a:p>
          <a:p>
            <a:pPr algn="ctr">
              <a:spcBef>
                <a:spcPts val="400"/>
              </a:spcBef>
              <a:defRPr sz="900" b="1">
                <a:solidFill>
                  <a:srgbClr val="94A3B8"/>
                </a:solidFill>
                <a:latin typeface="Calibri"/>
              </a:defRPr>
            </a:pPr>
            <a:r>
              <a:t>Cash Multiple (Y5)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17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2E8F0"/>
                </a:solidFill>
                <a:latin typeface="Calibri"/>
              </a:defRPr>
            </a:pPr>
            <a:r>
              <a:t>Eng.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4617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Engineering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4617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KES 75M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206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2E8F0"/>
                </a:solidFill>
                <a:latin typeface="Calibri"/>
              </a:defRPr>
            </a:pPr>
            <a:r>
              <a:t>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120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Sales &amp; Marketing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KES 30M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235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2E8F0"/>
                </a:solidFill>
                <a:latin typeface="Calibri"/>
              </a:defRPr>
            </a:pPr>
            <a:r>
              <a:t>Infra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623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Cloud + 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5623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KES 20M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126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2E8F0"/>
                </a:solidFill>
                <a:latin typeface="Calibri"/>
              </a:defRPr>
            </a:pPr>
            <a:r>
              <a:t>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6126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CS &amp;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6126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KES 15M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629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2E8F0"/>
                </a:solidFill>
                <a:latin typeface="Calibri"/>
              </a:defRPr>
            </a:pPr>
            <a:r>
              <a:t>Buffer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6629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Reserve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6629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KES 10M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● VITORA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B8A6"/>
                </a:solidFill>
                <a:latin typeface="Calibri"/>
              </a:defRPr>
            </a:pPr>
            <a:r>
              <a:t>SENSITIVITY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Stress-tested across</a:t>
            </a:r>
            <a:br/>
            <a:r>
              <a:t>key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Even in the bear case, the business reaches breakeven within the funding runway.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971800"/>
          <a:ext cx="109728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47472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Risk Factor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Probability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1A243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SHA mandate delays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Product works without SHA — offline-first value prop stands alone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Large EHR vendor enters Kenya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Offline-first + SHA integration = 18-month moat. Local team = faster iteration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FX depreciation (KES/USD)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Revenue &amp; costs both in KES — natural hedge. Cloud costs (USD) are &lt;10% of total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Churn higher than projected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30-day pilot de-risks. Implementation included reduces switching cost. CS team scales with customers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Hiring delays (engineering)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Strong Nairobi tech talent pool. Competitive comp. AI-augmented dev productivity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5239512"/>
            <a:ext cx="352044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>
              <a:defRPr sz="1200" b="1">
                <a:solidFill>
                  <a:srgbClr val="E2E8F0"/>
                </a:solidFill>
              </a:defRPr>
            </a:pPr>
            <a:r>
              <a:t>🐂 Bull Case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SHA mandate enforcement drives faster adoption. County-level deals land in Y2.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Y5 Customers: 950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Y5 ARR: KES 310M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Y5 EBITDA: KES 68M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Breakeven: Mid Y3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Churn: 6%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5239512"/>
            <a:ext cx="352044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>
              <a:defRPr sz="1200" b="1">
                <a:solidFill>
                  <a:srgbClr val="E2E8F0"/>
                </a:solidFill>
              </a:defRPr>
            </a:pPr>
            <a:r>
              <a:t>📊 Base Case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Steady organic growth. Hospital segment drives majority of revenue.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Y5 Customers: 715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Y5 ARR: KES 231.6M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Y5 EBITDA: KES 28.8M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Breakeven: Early Y5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Churn: 8-10%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5239512"/>
            <a:ext cx="352044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>
              <a:defRPr sz="1200" b="1">
                <a:solidFill>
                  <a:srgbClr val="E2E8F0"/>
                </a:solidFill>
              </a:defRPr>
            </a:pPr>
            <a:r>
              <a:t>🐻 Bear Case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Slower adoption, SHA mandate delays, 1 competitor captures hospital segment. Bridge round needed.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Y5 Customers: 420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Y5 ARR: KES 140M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Y5 EBITDA: (KES 8M)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Breakeven: Early Y6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Churn: 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● VITORA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FCE8"/>
                </a:solidFill>
                <a:latin typeface="Calibri"/>
              </a:defRPr>
            </a:pPr>
            <a: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Full assumption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FCE8"/>
                </a:solidFill>
                <a:latin typeface="Calibri"/>
              </a:defRPr>
            </a:pPr>
            <a:r>
              <a:t>All projections built bottom-up from customer acquisition, pricing, and cost assumptions.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This financial model is for planning purposes. Actual results will vary. All projections are management estimates based on current market conditions as of May 2026. Prepared by Nexora Africa Ltd.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● VITORA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